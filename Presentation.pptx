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7" r:id="rId5"/>
    <p:sldId id="277" r:id="rId6"/>
    <p:sldId id="258" r:id="rId7"/>
    <p:sldId id="281" r:id="rId8"/>
    <p:sldId id="275" r:id="rId9"/>
    <p:sldId id="273" r:id="rId10"/>
    <p:sldId id="276" r:id="rId11"/>
    <p:sldId id="280" r:id="rId12"/>
    <p:sldId id="278" r:id="rId13"/>
    <p:sldId id="272" r:id="rId14"/>
    <p:sldId id="271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0704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11662"/>
            <a:ext cx="2895600" cy="993941"/>
          </a:xfrm>
        </p:spPr>
        <p:txBody>
          <a:bodyPr/>
          <a:lstStyle/>
          <a:p>
            <a:r>
              <a:rPr lang="en-US" dirty="0"/>
              <a:t>outline: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342286"/>
            <a:ext cx="3874604" cy="4777380"/>
          </a:xfrm>
        </p:spPr>
        <p:txBody>
          <a:bodyPr>
            <a:normAutofit/>
          </a:bodyPr>
          <a:lstStyle/>
          <a:p>
            <a:r>
              <a:rPr lang="en-US" sz="2000" b="1" dirty="0"/>
              <a:t>Introduction</a:t>
            </a:r>
          </a:p>
          <a:p>
            <a:r>
              <a:rPr lang="en-US" sz="2000" b="1" dirty="0"/>
              <a:t>Dataset </a:t>
            </a:r>
          </a:p>
          <a:p>
            <a:r>
              <a:rPr lang="en-US" sz="2000" b="1" dirty="0"/>
              <a:t>preprocessing</a:t>
            </a:r>
          </a:p>
          <a:p>
            <a:r>
              <a:rPr lang="en-US" sz="2000" b="1" dirty="0"/>
              <a:t>Dataset cleaning</a:t>
            </a:r>
          </a:p>
          <a:p>
            <a:r>
              <a:rPr lang="en-US" sz="2000" b="1" dirty="0"/>
              <a:t>Dataset normalization</a:t>
            </a:r>
          </a:p>
          <a:p>
            <a:r>
              <a:rPr lang="en-US" sz="2000" b="1" dirty="0"/>
              <a:t>Dataset reduction</a:t>
            </a:r>
          </a:p>
          <a:p>
            <a:r>
              <a:rPr lang="en-US" sz="2000" b="1" dirty="0" err="1"/>
              <a:t>knn</a:t>
            </a:r>
            <a:r>
              <a:rPr lang="en-US" sz="2000" b="1" dirty="0"/>
              <a:t> algorithm</a:t>
            </a:r>
          </a:p>
          <a:p>
            <a:r>
              <a:rPr lang="en-US" sz="2000" b="1" dirty="0"/>
              <a:t>Accuracy and Visualization</a:t>
            </a:r>
          </a:p>
          <a:p>
            <a:endParaRPr lang="en-US" sz="2000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5BAF8-EA80-4AD4-8D83-5960C299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91F00-87A7-45A6-8029-B097FA72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704609"/>
            <a:ext cx="5111750" cy="860391"/>
          </a:xfrm>
        </p:spPr>
        <p:txBody>
          <a:bodyPr/>
          <a:lstStyle/>
          <a:p>
            <a:r>
              <a:rPr lang="en-US" sz="2800" b="1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E37824-35EF-0F8B-D459-DE98E6DC2E07}"/>
              </a:ext>
            </a:extLst>
          </p:cNvPr>
          <p:cNvSpPr txBox="1">
            <a:spLocks/>
          </p:cNvSpPr>
          <p:nvPr/>
        </p:nvSpPr>
        <p:spPr>
          <a:xfrm>
            <a:off x="1268896" y="2158380"/>
            <a:ext cx="6470374" cy="3604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Inter"/>
              </a:rPr>
              <a:t>Study case: </a:t>
            </a:r>
          </a:p>
          <a:p>
            <a:r>
              <a:rPr lang="en-US" sz="2000" dirty="0">
                <a:latin typeface="Inter"/>
              </a:rPr>
              <a:t>build a program predicting if the patient could has breast cancer or not . </a:t>
            </a:r>
          </a:p>
          <a:p>
            <a:endParaRPr lang="en-US" sz="2000" dirty="0">
              <a:latin typeface="Inter"/>
            </a:endParaRPr>
          </a:p>
          <a:p>
            <a:r>
              <a:rPr lang="en-US" sz="2000" dirty="0">
                <a:latin typeface="Inter"/>
              </a:rPr>
              <a:t>Apply K-Nearest Neighbors (KNN) method on the dataset</a:t>
            </a:r>
          </a:p>
          <a:p>
            <a:r>
              <a:rPr lang="en-US" sz="2000" dirty="0">
                <a:latin typeface="Inter"/>
              </a:rPr>
              <a:t>classification problem. </a:t>
            </a:r>
          </a:p>
          <a:p>
            <a:r>
              <a:rPr lang="en-US" sz="2000" dirty="0">
                <a:latin typeface="Inter"/>
              </a:rPr>
              <a:t>classify new data points based on similarity measures</a:t>
            </a:r>
            <a:endParaRPr lang="en-US" sz="2800" dirty="0">
              <a:latin typeface="In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A74764-4AF4-4128-350C-4C21FBA09D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63" t="26463" r="47064" b="17858"/>
          <a:stretch/>
        </p:blipFill>
        <p:spPr>
          <a:xfrm>
            <a:off x="7861852" y="2420456"/>
            <a:ext cx="3690731" cy="381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89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-451833"/>
            <a:ext cx="5111750" cy="1204912"/>
          </a:xfrm>
        </p:spPr>
        <p:txBody>
          <a:bodyPr/>
          <a:lstStyle/>
          <a:p>
            <a:r>
              <a:rPr lang="en-US" b="1" dirty="0"/>
              <a:t>Dataset</a:t>
            </a:r>
            <a:r>
              <a:rPr lang="en-US" sz="2800" b="1" dirty="0"/>
              <a:t> In Details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4250" y="876698"/>
            <a:ext cx="5111750" cy="1525588"/>
          </a:xfrm>
        </p:spPr>
        <p:txBody>
          <a:bodyPr/>
          <a:lstStyle/>
          <a:p>
            <a:r>
              <a:rPr lang="en-US" dirty="0"/>
              <a:t>Data set contains: Features are computed from a digitized image of a fine needle aspirate (FNA) of a breast mass. </a:t>
            </a:r>
          </a:p>
          <a:p>
            <a:endParaRPr lang="en-US" b="0" i="0" dirty="0">
              <a:effectLst/>
              <a:latin typeface="Inter"/>
            </a:endParaRPr>
          </a:p>
          <a:p>
            <a:r>
              <a:rPr lang="en-US" b="0" i="0" dirty="0">
                <a:effectLst/>
                <a:latin typeface="Inter"/>
              </a:rPr>
              <a:t>Diagnosis determines if the tumor is malignant or a benign tumor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585795-4F16-9178-3503-B0D57CD6FF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61" t="28589" r="8073" b="26365"/>
          <a:stretch/>
        </p:blipFill>
        <p:spPr>
          <a:xfrm>
            <a:off x="490331" y="3144975"/>
            <a:ext cx="8371786" cy="30877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8453CE-4D1F-E1A2-394B-07E4DD89D8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70" t="57782" r="63478" b="32939"/>
          <a:stretch/>
        </p:blipFill>
        <p:spPr>
          <a:xfrm>
            <a:off x="5943600" y="2006137"/>
            <a:ext cx="2597428" cy="10303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8F924D-DC6A-6345-E850-E43170E22C95}"/>
              </a:ext>
            </a:extLst>
          </p:cNvPr>
          <p:cNvSpPr txBox="1">
            <a:spLocks/>
          </p:cNvSpPr>
          <p:nvPr/>
        </p:nvSpPr>
        <p:spPr>
          <a:xfrm>
            <a:off x="984250" y="2562941"/>
            <a:ext cx="352866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effectLst/>
                <a:latin typeface="-apple-system"/>
              </a:rPr>
              <a:t>Data set contains 569 rows × 33 columns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A3E1CA-8E12-FAB9-B51B-9D76ACDA7851}"/>
              </a:ext>
            </a:extLst>
          </p:cNvPr>
          <p:cNvCxnSpPr>
            <a:cxnSpLocks/>
          </p:cNvCxnSpPr>
          <p:nvPr/>
        </p:nvCxnSpPr>
        <p:spPr>
          <a:xfrm flipV="1">
            <a:off x="4353894" y="2743200"/>
            <a:ext cx="1430682" cy="2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823878"/>
            <a:ext cx="5111750" cy="860391"/>
          </a:xfrm>
        </p:spPr>
        <p:txBody>
          <a:bodyPr/>
          <a:lstStyle/>
          <a:p>
            <a:r>
              <a:rPr lang="en-US" sz="2800" b="1" dirty="0"/>
              <a:t>preprocessing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E37824-35EF-0F8B-D459-DE98E6DC2E07}"/>
              </a:ext>
            </a:extLst>
          </p:cNvPr>
          <p:cNvSpPr txBox="1">
            <a:spLocks/>
          </p:cNvSpPr>
          <p:nvPr/>
        </p:nvSpPr>
        <p:spPr>
          <a:xfrm>
            <a:off x="1633331" y="2049394"/>
            <a:ext cx="5936974" cy="148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11111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Split the dataset</a:t>
            </a:r>
            <a:endParaRPr lang="ar-YE" sz="1800" dirty="0">
              <a:latin typeface="Inter"/>
            </a:endParaRPr>
          </a:p>
          <a:p>
            <a:r>
              <a:rPr lang="en-US" sz="1800" dirty="0">
                <a:latin typeface="Inter"/>
              </a:rPr>
              <a:t>x=</a:t>
            </a:r>
            <a:r>
              <a:rPr lang="en-US" sz="1800" dirty="0" err="1">
                <a:latin typeface="Inter"/>
              </a:rPr>
              <a:t>df</a:t>
            </a:r>
            <a:r>
              <a:rPr lang="en-US" sz="1800" dirty="0">
                <a:latin typeface="Inter"/>
              </a:rPr>
              <a:t>[["radius_mean","texture_mean","smoothness_mean","compactness_mean","concavity_mean"]]</a:t>
            </a:r>
          </a:p>
          <a:p>
            <a:r>
              <a:rPr lang="en-US" sz="1800" dirty="0">
                <a:latin typeface="Inter"/>
              </a:rPr>
              <a:t>y=</a:t>
            </a:r>
            <a:r>
              <a:rPr lang="en-US" sz="1800" dirty="0" err="1">
                <a:latin typeface="Inter"/>
              </a:rPr>
              <a:t>df</a:t>
            </a:r>
            <a:r>
              <a:rPr lang="en-US" sz="1800" dirty="0">
                <a:latin typeface="Inter"/>
              </a:rPr>
              <a:t>["diagnosis"]</a:t>
            </a:r>
          </a:p>
          <a:p>
            <a:endParaRPr lang="en-US" sz="1800" dirty="0">
              <a:latin typeface="Inter"/>
            </a:endParaRPr>
          </a:p>
          <a:p>
            <a:endParaRPr lang="en-US" sz="1800" dirty="0">
              <a:latin typeface="Inte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E1C7BE-0E3B-2A6F-A3FB-F09FC1EDDF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6" t="47148" r="21197" b="43078"/>
          <a:stretch/>
        </p:blipFill>
        <p:spPr>
          <a:xfrm>
            <a:off x="443008" y="3903455"/>
            <a:ext cx="11560939" cy="122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2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C7382-18E7-4821-8C61-461D6BBE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9366C1F-FF81-9935-F726-417F0019B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1786" y="725558"/>
            <a:ext cx="4179570" cy="982040"/>
          </a:xfrm>
        </p:spPr>
        <p:txBody>
          <a:bodyPr/>
          <a:lstStyle/>
          <a:p>
            <a:r>
              <a:rPr lang="en-US" sz="3600" b="1" dirty="0"/>
              <a:t>Data cleaning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38A195-0AF0-6F37-5500-97BC8692D2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52" t="56042" r="7173" b="26365"/>
          <a:stretch/>
        </p:blipFill>
        <p:spPr>
          <a:xfrm>
            <a:off x="2501345" y="3429000"/>
            <a:ext cx="8494645" cy="120594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DD568F0F-16CB-E1C2-B661-A6B50D83AC7D}"/>
              </a:ext>
            </a:extLst>
          </p:cNvPr>
          <p:cNvSpPr txBox="1">
            <a:spLocks/>
          </p:cNvSpPr>
          <p:nvPr/>
        </p:nvSpPr>
        <p:spPr>
          <a:xfrm>
            <a:off x="3204304" y="2571775"/>
            <a:ext cx="5936974" cy="423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>
                <a:latin typeface="Inter"/>
              </a:rPr>
              <a:t>Dropna</a:t>
            </a:r>
            <a:r>
              <a:rPr lang="en-US" sz="1800" dirty="0">
                <a:latin typeface="Inter"/>
              </a:rPr>
              <a:t>() function is used to remove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40784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80" y="39792"/>
            <a:ext cx="5111750" cy="1204912"/>
          </a:xfrm>
        </p:spPr>
        <p:txBody>
          <a:bodyPr/>
          <a:lstStyle/>
          <a:p>
            <a:r>
              <a:rPr lang="en-US" sz="2800" b="1" dirty="0"/>
              <a:t>Data normalization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3779" y="1447165"/>
            <a:ext cx="6748255" cy="553913"/>
          </a:xfrm>
        </p:spPr>
        <p:txBody>
          <a:bodyPr>
            <a:normAutofit/>
          </a:bodyPr>
          <a:lstStyle/>
          <a:p>
            <a:r>
              <a:rPr lang="en-US" sz="1600" b="0" i="0" dirty="0">
                <a:solidFill>
                  <a:srgbClr val="0A0C10"/>
                </a:solidFill>
                <a:effectLst/>
                <a:latin typeface="-apple-system"/>
              </a:rPr>
              <a:t>normalized the data values in the range of 0 and 1.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C1520B-BB56-4F9E-E6AA-CE91E28EB4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89" t="22010" r="8461" b="11113"/>
          <a:stretch/>
        </p:blipFill>
        <p:spPr>
          <a:xfrm>
            <a:off x="1669775" y="2103943"/>
            <a:ext cx="8269356" cy="441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9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78C84250-590D-1AD0-6783-FC8F75B24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A5B576-8ACD-DFBC-657D-C3C386B4A845}"/>
              </a:ext>
            </a:extLst>
          </p:cNvPr>
          <p:cNvSpPr txBox="1">
            <a:spLocks/>
          </p:cNvSpPr>
          <p:nvPr/>
        </p:nvSpPr>
        <p:spPr>
          <a:xfrm>
            <a:off x="3078563" y="472421"/>
            <a:ext cx="4179570" cy="12517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Data reduction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20FEEA0-B3E7-7591-AA27-90D0582ED0C9}"/>
              </a:ext>
            </a:extLst>
          </p:cNvPr>
          <p:cNvSpPr txBox="1">
            <a:spLocks/>
          </p:cNvSpPr>
          <p:nvPr/>
        </p:nvSpPr>
        <p:spPr>
          <a:xfrm>
            <a:off x="3127513" y="1926815"/>
            <a:ext cx="5936974" cy="423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Inter"/>
              </a:rPr>
              <a:t>Delete column we do not need it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A47197-A5BA-78FA-59F8-116BC1D2EB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87" t="38643" r="6630" b="10125"/>
          <a:stretch/>
        </p:blipFill>
        <p:spPr>
          <a:xfrm>
            <a:off x="2243675" y="2552790"/>
            <a:ext cx="8507895" cy="351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7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823878"/>
            <a:ext cx="5111750" cy="860391"/>
          </a:xfrm>
        </p:spPr>
        <p:txBody>
          <a:bodyPr/>
          <a:lstStyle/>
          <a:p>
            <a:pPr algn="l" latinLnBrk="0"/>
            <a:r>
              <a:rPr lang="en-US" b="1" dirty="0">
                <a:solidFill>
                  <a:srgbClr val="191B1D"/>
                </a:solidFill>
                <a:latin typeface="Muli"/>
              </a:rPr>
              <a:t>k-Nearest Neighbors </a:t>
            </a:r>
            <a:r>
              <a:rPr lang="en-US" b="1" i="0" dirty="0">
                <a:solidFill>
                  <a:srgbClr val="191B1D"/>
                </a:solidFill>
                <a:effectLst/>
                <a:latin typeface="Muli"/>
              </a:rPr>
              <a:t>classification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E37824-35EF-0F8B-D459-DE98E6DC2E07}"/>
              </a:ext>
            </a:extLst>
          </p:cNvPr>
          <p:cNvSpPr txBox="1">
            <a:spLocks/>
          </p:cNvSpPr>
          <p:nvPr/>
        </p:nvSpPr>
        <p:spPr>
          <a:xfrm>
            <a:off x="1447800" y="3630666"/>
            <a:ext cx="5936974" cy="47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11111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</a:t>
            </a:r>
            <a:r>
              <a:rPr lang="en-US" sz="1800" dirty="0">
                <a:solidFill>
                  <a:srgbClr val="11111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ivide the dataset into training and test</a:t>
            </a:r>
            <a:endParaRPr lang="en-US" sz="1800" dirty="0">
              <a:latin typeface="Inter"/>
            </a:endParaRPr>
          </a:p>
          <a:p>
            <a:endParaRPr lang="en-US" sz="1800" dirty="0">
              <a:latin typeface="Inte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1AD5D4-3815-251C-B131-33EF2CF027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78" t="38610" r="19348" b="50000"/>
          <a:stretch/>
        </p:blipFill>
        <p:spPr>
          <a:xfrm>
            <a:off x="919495" y="4113005"/>
            <a:ext cx="8956939" cy="1049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6FC6C4-31E0-2BA9-3996-6D1EF7802C1A}"/>
              </a:ext>
            </a:extLst>
          </p:cNvPr>
          <p:cNvSpPr txBox="1"/>
          <p:nvPr/>
        </p:nvSpPr>
        <p:spPr>
          <a:xfrm>
            <a:off x="1447800" y="2027005"/>
            <a:ext cx="610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KNN Supervised learning (classification)</a:t>
            </a: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 data is classified based on the training 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86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80" y="477078"/>
            <a:ext cx="5111750" cy="767626"/>
          </a:xfrm>
        </p:spPr>
        <p:txBody>
          <a:bodyPr>
            <a:normAutofit fontScale="90000"/>
          </a:bodyPr>
          <a:lstStyle/>
          <a:p>
            <a:pPr algn="l" latinLnBrk="0"/>
            <a:r>
              <a:rPr lang="en-US" b="1" i="0" dirty="0">
                <a:solidFill>
                  <a:srgbClr val="191B1D"/>
                </a:solidFill>
                <a:effectLst/>
                <a:latin typeface="Muli"/>
              </a:rPr>
              <a:t>k-Nearest </a:t>
            </a:r>
            <a:r>
              <a:rPr lang="en-US" b="1" dirty="0">
                <a:solidFill>
                  <a:srgbClr val="191B1D"/>
                </a:solidFill>
                <a:latin typeface="Muli"/>
              </a:rPr>
              <a:t>Neighbors</a:t>
            </a:r>
            <a:r>
              <a:rPr lang="en-US" b="1" i="0" dirty="0">
                <a:solidFill>
                  <a:srgbClr val="191B1D"/>
                </a:solidFill>
                <a:effectLst/>
                <a:latin typeface="Muli"/>
              </a:rPr>
              <a:t> classification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E37824-35EF-0F8B-D459-DE98E6DC2E07}"/>
              </a:ext>
            </a:extLst>
          </p:cNvPr>
          <p:cNvSpPr txBox="1">
            <a:spLocks/>
          </p:cNvSpPr>
          <p:nvPr/>
        </p:nvSpPr>
        <p:spPr>
          <a:xfrm>
            <a:off x="838200" y="1598270"/>
            <a:ext cx="5936974" cy="924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11111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import the </a:t>
            </a:r>
            <a:r>
              <a:rPr lang="en-US" sz="1800" dirty="0" err="1">
                <a:solidFill>
                  <a:srgbClr val="11111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KNeighborsClassifier</a:t>
            </a:r>
            <a:endParaRPr lang="en-US" sz="1800" dirty="0">
              <a:latin typeface="Inter"/>
            </a:endParaRPr>
          </a:p>
          <a:p>
            <a:endParaRPr lang="en-US" sz="1800" dirty="0">
              <a:latin typeface="Inter"/>
            </a:endParaRPr>
          </a:p>
          <a:p>
            <a:endParaRPr lang="en-US" sz="1800" dirty="0">
              <a:latin typeface="Inte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931158-8D84-4B70-C1EA-3621021C93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87" t="21436" r="18044" b="25206"/>
          <a:stretch/>
        </p:blipFill>
        <p:spPr>
          <a:xfrm>
            <a:off x="1034084" y="2148510"/>
            <a:ext cx="7275029" cy="390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37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79" y="683468"/>
            <a:ext cx="5111750" cy="553913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Decide the Number of Neighbors in KNN</a:t>
            </a:r>
            <a:endParaRPr lang="en-US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3779" y="1447165"/>
            <a:ext cx="6748255" cy="553913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Inter"/>
                <a:ea typeface="Times New Roman" panose="02020603050405020304" pitchFamily="18" charset="0"/>
                <a:cs typeface="Times New Roman" panose="02020603050405020304" pitchFamily="18" charset="0"/>
              </a:rPr>
              <a:t>maximum testing accuracy for k=7.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8634C5-6451-1096-A23F-B52777393D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69" t="21088" r="22693" b="13417"/>
          <a:stretch/>
        </p:blipFill>
        <p:spPr>
          <a:xfrm>
            <a:off x="1083779" y="1918843"/>
            <a:ext cx="6451958" cy="443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7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9">
            <a:extLst>
              <a:ext uri="{FF2B5EF4-FFF2-40B4-BE49-F238E27FC236}">
                <a16:creationId xmlns:a16="http://schemas.microsoft.com/office/drawing/2014/main" id="{D1BB9092-F45D-F761-DD49-E8A9548F3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661" y="3715181"/>
            <a:ext cx="4179570" cy="1371997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05B18B7-848C-6A7E-4162-6E132E922C73}"/>
              </a:ext>
            </a:extLst>
          </p:cNvPr>
          <p:cNvSpPr txBox="1">
            <a:spLocks/>
          </p:cNvSpPr>
          <p:nvPr/>
        </p:nvSpPr>
        <p:spPr>
          <a:xfrm>
            <a:off x="2945765" y="600185"/>
            <a:ext cx="4179570" cy="7554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Accuracy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B333FD-CA51-971A-B574-A3BC0A37A5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85" t="31786" r="6769" b="22037"/>
          <a:stretch/>
        </p:blipFill>
        <p:spPr>
          <a:xfrm>
            <a:off x="1519530" y="2471836"/>
            <a:ext cx="9807432" cy="367166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313E8D0D-4952-DEC6-43B2-D1834BCE3817}"/>
              </a:ext>
            </a:extLst>
          </p:cNvPr>
          <p:cNvSpPr/>
          <p:nvPr/>
        </p:nvSpPr>
        <p:spPr>
          <a:xfrm>
            <a:off x="2420255" y="5639921"/>
            <a:ext cx="1608406" cy="351692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EC013C-346B-4323-6718-A05F80241CC6}"/>
              </a:ext>
            </a:extLst>
          </p:cNvPr>
          <p:cNvSpPr/>
          <p:nvPr/>
        </p:nvSpPr>
        <p:spPr>
          <a:xfrm>
            <a:off x="2392119" y="4919539"/>
            <a:ext cx="1608406" cy="351692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9A876C-1355-B5D8-56DC-ECD3756D4090}"/>
              </a:ext>
            </a:extLst>
          </p:cNvPr>
          <p:cNvCxnSpPr/>
          <p:nvPr/>
        </p:nvCxnSpPr>
        <p:spPr>
          <a:xfrm flipH="1">
            <a:off x="4014593" y="5097141"/>
            <a:ext cx="12942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4C901F-E492-5794-6807-D1B593BCD923}"/>
              </a:ext>
            </a:extLst>
          </p:cNvPr>
          <p:cNvCxnSpPr/>
          <p:nvPr/>
        </p:nvCxnSpPr>
        <p:spPr>
          <a:xfrm flipH="1">
            <a:off x="4042729" y="5809320"/>
            <a:ext cx="12942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ubtitle 2">
            <a:extLst>
              <a:ext uri="{FF2B5EF4-FFF2-40B4-BE49-F238E27FC236}">
                <a16:creationId xmlns:a16="http://schemas.microsoft.com/office/drawing/2014/main" id="{FFA2822C-F690-569F-E983-72252047E633}"/>
              </a:ext>
            </a:extLst>
          </p:cNvPr>
          <p:cNvSpPr txBox="1">
            <a:spLocks/>
          </p:cNvSpPr>
          <p:nvPr/>
        </p:nvSpPr>
        <p:spPr>
          <a:xfrm>
            <a:off x="2945765" y="1759658"/>
            <a:ext cx="5936974" cy="423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92% of accuracy and 89% of accuracy </a:t>
            </a:r>
            <a:r>
              <a:rPr lang="en-US" sz="1800" dirty="0">
                <a:solidFill>
                  <a:srgbClr val="40404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8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206"/>
            <a:ext cx="5111750" cy="553913"/>
          </a:xfrm>
        </p:spPr>
        <p:txBody>
          <a:bodyPr/>
          <a:lstStyle/>
          <a:p>
            <a:r>
              <a:rPr lang="en-US" sz="2800" b="1" dirty="0"/>
              <a:t>Visualization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EB4F5B-E92D-2AA0-33B9-9A2CA319166F}"/>
              </a:ext>
            </a:extLst>
          </p:cNvPr>
          <p:cNvSpPr txBox="1"/>
          <p:nvPr/>
        </p:nvSpPr>
        <p:spPr>
          <a:xfrm>
            <a:off x="742122" y="1148987"/>
            <a:ext cx="65333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92929"/>
                </a:solidFill>
                <a:effectLst/>
                <a:latin typeface="sohne"/>
              </a:rPr>
              <a:t>Confusion Matrix</a:t>
            </a:r>
          </a:p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The confusion matrix gives a clear overview of the actual labels and the prediction of the model</a:t>
            </a:r>
          </a:p>
          <a:p>
            <a:pPr algn="l"/>
            <a:endParaRPr lang="en-US" dirty="0">
              <a:solidFill>
                <a:srgbClr val="292929"/>
              </a:solidFill>
              <a:latin typeface="source-serif-pro"/>
            </a:endParaRPr>
          </a:p>
          <a:p>
            <a:pPr algn="l"/>
            <a:endParaRPr lang="en-US" b="0" i="0" dirty="0">
              <a:solidFill>
                <a:srgbClr val="292929"/>
              </a:solidFill>
              <a:effectLst/>
              <a:latin typeface="source-serif-pr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The model </a:t>
            </a:r>
            <a:r>
              <a:rPr lang="en-US" i="1" dirty="0">
                <a:solidFill>
                  <a:srgbClr val="292929"/>
                </a:solidFill>
                <a:effectLst/>
                <a:latin typeface="source-serif-pro"/>
              </a:rPr>
              <a:t>predicted 163 patients were in the “benign (0)”</a:t>
            </a:r>
            <a:r>
              <a:rPr lang="en-US" i="0" dirty="0">
                <a:solidFill>
                  <a:srgbClr val="292929"/>
                </a:solidFill>
                <a:effectLst/>
                <a:latin typeface="source-serif-pro"/>
              </a:rPr>
              <a:t> 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stage (they do not </a:t>
            </a:r>
            <a:r>
              <a:rPr lang="en-US" i="0" dirty="0">
                <a:solidFill>
                  <a:srgbClr val="292929"/>
                </a:solidFill>
                <a:effectLst/>
                <a:latin typeface="source-serif-pro"/>
              </a:rPr>
              <a:t>have </a:t>
            </a:r>
            <a:r>
              <a:rPr lang="en-US" i="1" dirty="0">
                <a:solidFill>
                  <a:srgbClr val="292929"/>
                </a:solidFill>
                <a:effectLst/>
                <a:latin typeface="source-serif-pro"/>
              </a:rPr>
              <a:t>breast cancer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) while </a:t>
            </a:r>
            <a:r>
              <a:rPr lang="en-US" b="0" i="1" dirty="0">
                <a:solidFill>
                  <a:srgbClr val="292929"/>
                </a:solidFill>
                <a:effectLst/>
                <a:latin typeface="source-serif-pro"/>
              </a:rPr>
              <a:t>only 143 were and it predicted that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292929"/>
                </a:solidFill>
                <a:effectLst/>
                <a:latin typeface="source-serif-pro"/>
              </a:rPr>
              <a:t> 0 </a:t>
            </a:r>
            <a:r>
              <a:rPr lang="en-US" b="1" i="1" dirty="0">
                <a:solidFill>
                  <a:srgbClr val="292929"/>
                </a:solidFill>
                <a:effectLst/>
                <a:latin typeface="source-serif-pro"/>
              </a:rPr>
              <a:t>patient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 were in </a:t>
            </a:r>
            <a:r>
              <a:rPr lang="en-US" b="1" i="1" dirty="0">
                <a:solidFill>
                  <a:srgbClr val="292929"/>
                </a:solidFill>
                <a:effectLst/>
                <a:latin typeface="source-serif-pro"/>
              </a:rPr>
              <a:t>“malignant (1)” when only 65 have breast cancer.</a:t>
            </a:r>
            <a:endParaRPr lang="en-US" b="0" i="0" dirty="0">
              <a:solidFill>
                <a:srgbClr val="292929"/>
              </a:solidFill>
              <a:effectLst/>
              <a:latin typeface="source-serif-pro"/>
            </a:endParaRPr>
          </a:p>
          <a:p>
            <a:pPr algn="l"/>
            <a:endParaRPr lang="en-US" b="0" i="0" dirty="0">
              <a:solidFill>
                <a:srgbClr val="292929"/>
              </a:solidFill>
              <a:effectLst/>
              <a:latin typeface="source-serif-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C5DCE0-993C-1772-85D9-F02C676B3E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86" t="34670" r="51649" b="10621"/>
          <a:stretch/>
        </p:blipFill>
        <p:spPr>
          <a:xfrm>
            <a:off x="7275444" y="821971"/>
            <a:ext cx="4346713" cy="45376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6B2A94-B423-5E67-F491-8AC49C43FA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44" t="46955" r="38370" b="9947"/>
          <a:stretch/>
        </p:blipFill>
        <p:spPr>
          <a:xfrm>
            <a:off x="1550228" y="4027807"/>
            <a:ext cx="5890453" cy="266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8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_tm67328976_Win32_LW_SL_v3" id="{B5A5B451-F186-4F05-917D-430247B33515}" vid="{C0610F80-F57F-4E6B-A096-3AEBDD5FC5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C43685-694E-4579-B109-3C418D49DA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{56B5E9D6-0AF1-495B-A86A-EF41B634BBA3}tf67328976_win32</Template>
  <TotalTime>3312</TotalTime>
  <Words>316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-apple-system</vt:lpstr>
      <vt:lpstr>Arial</vt:lpstr>
      <vt:lpstr>Calibri</vt:lpstr>
      <vt:lpstr>Inter</vt:lpstr>
      <vt:lpstr>Muli</vt:lpstr>
      <vt:lpstr>sohne</vt:lpstr>
      <vt:lpstr>source-serif-pro</vt:lpstr>
      <vt:lpstr>Studio-Feixen-Sans</vt:lpstr>
      <vt:lpstr>Tenorite</vt:lpstr>
      <vt:lpstr>Office Theme</vt:lpstr>
      <vt:lpstr>outline:</vt:lpstr>
      <vt:lpstr>Introduction</vt:lpstr>
      <vt:lpstr>Dataset In Details</vt:lpstr>
      <vt:lpstr>preprocessing</vt:lpstr>
      <vt:lpstr>Data cleaning</vt:lpstr>
      <vt:lpstr>Data normalization</vt:lpstr>
      <vt:lpstr>PowerPoint Presentation</vt:lpstr>
      <vt:lpstr>k-Nearest Neighbors classification</vt:lpstr>
      <vt:lpstr>k-Nearest Neighbors classification</vt:lpstr>
      <vt:lpstr>Decide the Number of Neighbors in KNN</vt:lpstr>
      <vt:lpstr>PowerPoint Presentation</vt:lpstr>
      <vt:lpstr>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BUTHAINA ALSURMI</dc:creator>
  <cp:lastModifiedBy>25511734 - Lama Mohammad Abduallah Saif</cp:lastModifiedBy>
  <cp:revision>24</cp:revision>
  <dcterms:created xsi:type="dcterms:W3CDTF">2022-12-16T00:00:43Z</dcterms:created>
  <dcterms:modified xsi:type="dcterms:W3CDTF">2026-07-01T03:04:16Z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